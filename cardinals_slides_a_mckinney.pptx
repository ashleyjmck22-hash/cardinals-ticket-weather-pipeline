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3" r:id="rId2"/>
    <p:sldId id="265" r:id="rId3"/>
    <p:sldId id="257" r:id="rId4"/>
    <p:sldId id="258" r:id="rId5"/>
    <p:sldId id="259" r:id="rId6"/>
    <p:sldId id="260" r:id="rId7"/>
    <p:sldId id="261" r:id="rId8"/>
    <p:sldId id="262"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87F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2" d="100"/>
          <a:sy n="62" d="100"/>
        </p:scale>
        <p:origin x="1400"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McKinney" userId="7294bb6bb542cb13" providerId="LiveId" clId="{6E6A7AD4-A915-49A3-A4C0-0468EFC375E6}"/>
    <pc:docChg chg="modSld">
      <pc:chgData name="Ashley McKinney" userId="7294bb6bb542cb13" providerId="LiveId" clId="{6E6A7AD4-A915-49A3-A4C0-0468EFC375E6}" dt="2026-03-16T05:55:00.749" v="0" actId="207"/>
      <pc:docMkLst>
        <pc:docMk/>
      </pc:docMkLst>
      <pc:sldChg chg="modSp mod">
        <pc:chgData name="Ashley McKinney" userId="7294bb6bb542cb13" providerId="LiveId" clId="{6E6A7AD4-A915-49A3-A4C0-0468EFC375E6}" dt="2026-03-16T05:55:00.749" v="0" actId="207"/>
        <pc:sldMkLst>
          <pc:docMk/>
          <pc:sldMk cId="2771036748" sldId="264"/>
        </pc:sldMkLst>
        <pc:spChg chg="mod">
          <ac:chgData name="Ashley McKinney" userId="7294bb6bb542cb13" providerId="LiveId" clId="{6E6A7AD4-A915-49A3-A4C0-0468EFC375E6}" dt="2026-03-16T05:55:00.749" v="0" actId="207"/>
          <ac:spMkLst>
            <pc:docMk/>
            <pc:sldMk cId="2771036748" sldId="264"/>
            <ac:spMk id="2" creationId="{E304921A-7AE9-3E02-9467-6B7ABA1E47A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85F3B3-1851-4745-B1A4-9FA33CD1AA8C}" type="datetimeFigureOut">
              <a:rPr lang="en-US" smtClean="0"/>
              <a:t>3/15/2026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410A5-A66B-4B72-B3BC-2B76C31B2A98}" type="slidenum">
              <a:rPr lang="en-US" smtClean="0"/>
              <a:t>‹#›</a:t>
            </a:fld>
            <a:endParaRPr lang="en-US"/>
          </a:p>
        </p:txBody>
      </p:sp>
    </p:spTree>
    <p:extLst>
      <p:ext uri="{BB962C8B-B14F-4D97-AF65-F5344CB8AC3E}">
        <p14:creationId xmlns:p14="http://schemas.microsoft.com/office/powerpoint/2010/main" val="1016714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5410A5-A66B-4B72-B3BC-2B76C31B2A98}" type="slidenum">
              <a:rPr lang="en-US" smtClean="0"/>
              <a:t>6</a:t>
            </a:fld>
            <a:endParaRPr lang="en-US"/>
          </a:p>
        </p:txBody>
      </p:sp>
    </p:spTree>
    <p:extLst>
      <p:ext uri="{BB962C8B-B14F-4D97-AF65-F5344CB8AC3E}">
        <p14:creationId xmlns:p14="http://schemas.microsoft.com/office/powerpoint/2010/main" val="990761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mailto:ashleyjmck22@gmail.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82BF84-3C31-06FA-4E8F-1473606AA2E7}"/>
              </a:ext>
            </a:extLst>
          </p:cNvPr>
          <p:cNvPicPr>
            <a:picLocks noChangeAspect="1"/>
          </p:cNvPicPr>
          <p:nvPr/>
        </p:nvPicPr>
        <p:blipFill>
          <a:blip r:embed="rId2"/>
          <a:stretch>
            <a:fillRect/>
          </a:stretch>
        </p:blipFill>
        <p:spPr>
          <a:xfrm>
            <a:off x="2813192" y="234022"/>
            <a:ext cx="3517615" cy="3517615"/>
          </a:xfrm>
          <a:prstGeom prst="ellipse">
            <a:avLst/>
          </a:prstGeom>
          <a:ln>
            <a:noFill/>
          </a:ln>
          <a:effectLst>
            <a:softEdge rad="112500"/>
          </a:effectLst>
        </p:spPr>
      </p:pic>
      <p:sp>
        <p:nvSpPr>
          <p:cNvPr id="4" name="Title 3">
            <a:extLst>
              <a:ext uri="{FF2B5EF4-FFF2-40B4-BE49-F238E27FC236}">
                <a16:creationId xmlns:a16="http://schemas.microsoft.com/office/drawing/2014/main" id="{AA1BCF69-2450-C157-41B6-1096118A42E1}"/>
              </a:ext>
            </a:extLst>
          </p:cNvPr>
          <p:cNvSpPr txBox="1">
            <a:spLocks noGrp="1"/>
          </p:cNvSpPr>
          <p:nvPr>
            <p:ph type="ctrTitle"/>
          </p:nvPr>
        </p:nvSpPr>
        <p:spPr>
          <a:xfrm>
            <a:off x="1461061" y="4306599"/>
            <a:ext cx="6221875" cy="707886"/>
          </a:xfrm>
          <a:prstGeom prst="rect">
            <a:avLst/>
          </a:prstGeom>
          <a:noFill/>
        </p:spPr>
        <p:txBody>
          <a:bodyPr wrap="square">
            <a:spAutoFit/>
          </a:bodyPr>
          <a:lstStyle/>
          <a:p>
            <a:r>
              <a:rPr lang="en-US" sz="4000" b="1" dirty="0">
                <a:solidFill>
                  <a:srgbClr val="002060"/>
                </a:solidFill>
                <a:latin typeface="Times New Roman" panose="02020603050405020304" pitchFamily="18" charset="0"/>
                <a:cs typeface="Times New Roman" panose="02020603050405020304" pitchFamily="18" charset="0"/>
              </a:rPr>
              <a:t>Pipeline</a:t>
            </a:r>
            <a:r>
              <a:rPr sz="4000" b="1" dirty="0">
                <a:solidFill>
                  <a:srgbClr val="002060"/>
                </a:solidFill>
                <a:latin typeface="Times New Roman" panose="02020603050405020304" pitchFamily="18" charset="0"/>
                <a:cs typeface="Times New Roman" panose="02020603050405020304" pitchFamily="18" charset="0"/>
              </a:rPr>
              <a:t> </a:t>
            </a:r>
            <a:r>
              <a:rPr lang="en-US" sz="4000" b="1" dirty="0">
                <a:solidFill>
                  <a:srgbClr val="002060"/>
                </a:solidFill>
                <a:latin typeface="Times New Roman" panose="02020603050405020304" pitchFamily="18" charset="0"/>
                <a:cs typeface="Times New Roman" panose="02020603050405020304" pitchFamily="18" charset="0"/>
              </a:rPr>
              <a:t>&amp; </a:t>
            </a:r>
            <a:r>
              <a:rPr sz="4000" b="1" dirty="0">
                <a:solidFill>
                  <a:srgbClr val="002060"/>
                </a:solidFill>
                <a:latin typeface="Times New Roman" panose="02020603050405020304" pitchFamily="18" charset="0"/>
                <a:cs typeface="Times New Roman" panose="02020603050405020304" pitchFamily="18" charset="0"/>
              </a:rPr>
              <a:t>Analytics</a:t>
            </a:r>
          </a:p>
        </p:txBody>
      </p:sp>
      <p:sp>
        <p:nvSpPr>
          <p:cNvPr id="5" name="Rectangle 4">
            <a:extLst>
              <a:ext uri="{FF2B5EF4-FFF2-40B4-BE49-F238E27FC236}">
                <a16:creationId xmlns:a16="http://schemas.microsoft.com/office/drawing/2014/main" id="{CE85E699-A0E3-5ADF-E784-5E1B1AA7BD88}"/>
              </a:ext>
            </a:extLst>
          </p:cNvPr>
          <p:cNvSpPr/>
          <p:nvPr/>
        </p:nvSpPr>
        <p:spPr>
          <a:xfrm>
            <a:off x="3405883" y="5206105"/>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oogle Shape;357;p1">
            <a:extLst>
              <a:ext uri="{FF2B5EF4-FFF2-40B4-BE49-F238E27FC236}">
                <a16:creationId xmlns:a16="http://schemas.microsoft.com/office/drawing/2014/main" id="{9A39571A-B081-42FB-5F90-EE4CEDEC26AA}"/>
              </a:ext>
            </a:extLst>
          </p:cNvPr>
          <p:cNvSpPr txBox="1">
            <a:spLocks noGrp="1"/>
          </p:cNvSpPr>
          <p:nvPr>
            <p:ph type="ftr" idx="11"/>
          </p:nvPr>
        </p:nvSpPr>
        <p:spPr>
          <a:xfrm>
            <a:off x="347980" y="622984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latin typeface="Times New Roman" panose="02020603050405020304" pitchFamily="18" charset="0"/>
                <a:cs typeface="Times New Roman" panose="02020603050405020304" pitchFamily="18" charset="0"/>
              </a:rPr>
              <a:t>Interview Presentation – Database Administrator ◦ 17 March 2026 ◦ Ashley McKinney</a:t>
            </a:r>
            <a:endParaRPr sz="11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6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F730-2DBC-B8D9-1D9F-8F4EB5BBD355}"/>
              </a:ext>
            </a:extLst>
          </p:cNvPr>
          <p:cNvSpPr>
            <a:spLocks noGrp="1"/>
          </p:cNvSpPr>
          <p:nvPr>
            <p:ph type="title"/>
          </p:nvPr>
        </p:nvSpPr>
        <p:spPr/>
        <p:txBody>
          <a:bodyPr/>
          <a:lstStyle/>
          <a:p>
            <a:pPr algn="l"/>
            <a:r>
              <a:rPr lang="en-US" b="1" dirty="0">
                <a:solidFill>
                  <a:schemeClr val="tx2"/>
                </a:solidFill>
                <a:latin typeface="Times New Roman" panose="02020603050405020304" pitchFamily="18" charset="0"/>
                <a:cs typeface="Times New Roman" panose="02020603050405020304" pitchFamily="18" charset="0"/>
              </a:rPr>
              <a:t>Agenda</a:t>
            </a:r>
            <a:r>
              <a:rPr lang="en-US" b="1" dirty="0">
                <a:solidFill>
                  <a:schemeClr val="tx2"/>
                </a:solidFill>
              </a:rPr>
              <a:t> </a:t>
            </a:r>
            <a:endParaRPr lang="en-US" b="1" dirty="0">
              <a:solidFill>
                <a:srgbClr val="002060"/>
              </a:solidFill>
            </a:endParaRPr>
          </a:p>
        </p:txBody>
      </p:sp>
      <p:sp>
        <p:nvSpPr>
          <p:cNvPr id="3" name="Content Placeholder 2">
            <a:extLst>
              <a:ext uri="{FF2B5EF4-FFF2-40B4-BE49-F238E27FC236}">
                <a16:creationId xmlns:a16="http://schemas.microsoft.com/office/drawing/2014/main" id="{5B9A9F6A-EDA7-7236-DD96-F7747570FBCE}"/>
              </a:ext>
            </a:extLst>
          </p:cNvPr>
          <p:cNvSpPr>
            <a:spLocks noGrp="1"/>
          </p:cNvSpPr>
          <p:nvPr>
            <p:ph idx="1"/>
          </p:nvPr>
        </p:nvSpPr>
        <p:spPr/>
        <p:txBody>
          <a:bodyPr/>
          <a:lstStyle/>
          <a:p>
            <a:r>
              <a:rPr lang="en-US" sz="2800" b="1" dirty="0">
                <a:latin typeface="Times New Roman" panose="02020603050405020304" pitchFamily="18" charset="0"/>
                <a:cs typeface="Times New Roman" panose="02020603050405020304" pitchFamily="18" charset="0"/>
              </a:rPr>
              <a:t>Problem &amp; Analytical Objective</a:t>
            </a:r>
          </a:p>
          <a:p>
            <a:r>
              <a:rPr lang="en-US" sz="2800" b="1" dirty="0">
                <a:latin typeface="Times New Roman" panose="02020603050405020304" pitchFamily="18" charset="0"/>
                <a:cs typeface="Times New Roman" panose="02020603050405020304" pitchFamily="18" charset="0"/>
              </a:rPr>
              <a:t>Approach &amp; Pipeline Architecture</a:t>
            </a:r>
          </a:p>
          <a:p>
            <a:r>
              <a:rPr lang="en-US" sz="2800" b="1" dirty="0">
                <a:latin typeface="Times New Roman" panose="02020603050405020304" pitchFamily="18" charset="0"/>
                <a:cs typeface="Times New Roman" panose="02020603050405020304" pitchFamily="18" charset="0"/>
              </a:rPr>
              <a:t>Data Modeling Strategy</a:t>
            </a:r>
          </a:p>
          <a:p>
            <a:r>
              <a:rPr lang="en-US" sz="2800" b="1" dirty="0">
                <a:latin typeface="Times New Roman" panose="02020603050405020304" pitchFamily="18" charset="0"/>
                <a:cs typeface="Times New Roman" panose="02020603050405020304" pitchFamily="18" charset="0"/>
              </a:rPr>
              <a:t>Example Analytical Insight</a:t>
            </a:r>
          </a:p>
          <a:p>
            <a:r>
              <a:rPr lang="en-US" sz="2800" b="1" dirty="0">
                <a:latin typeface="Times New Roman" panose="02020603050405020304" pitchFamily="18" charset="0"/>
                <a:cs typeface="Times New Roman" panose="02020603050405020304" pitchFamily="18" charset="0"/>
              </a:rPr>
              <a:t>Scalability &amp; Production Considerations</a:t>
            </a:r>
          </a:p>
          <a:p>
            <a:r>
              <a:rPr lang="en-US" sz="2800" b="1" dirty="0">
                <a:latin typeface="Times New Roman" panose="02020603050405020304" pitchFamily="18" charset="0"/>
                <a:cs typeface="Times New Roman" panose="02020603050405020304" pitchFamily="18" charset="0"/>
              </a:rPr>
              <a:t>Future Extensions: Demand &amp; Pricing Insights</a:t>
            </a:r>
          </a:p>
          <a:p>
            <a:endParaRPr lang="en-US" dirty="0"/>
          </a:p>
          <a:p>
            <a:endParaRPr lang="en-US" dirty="0"/>
          </a:p>
        </p:txBody>
      </p:sp>
    </p:spTree>
    <p:extLst>
      <p:ext uri="{BB962C8B-B14F-4D97-AF65-F5344CB8AC3E}">
        <p14:creationId xmlns:p14="http://schemas.microsoft.com/office/powerpoint/2010/main" val="1999671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8710" y="530146"/>
            <a:ext cx="7201908" cy="707886"/>
          </a:xfrm>
          <a:prstGeom prst="rect">
            <a:avLst/>
          </a:prstGeom>
          <a:noFill/>
        </p:spPr>
        <p:txBody>
          <a:bodyPr wrap="none">
            <a:spAutoFit/>
          </a:bodyPr>
          <a:lstStyle/>
          <a:p>
            <a:r>
              <a:rPr sz="4000" b="1" dirty="0">
                <a:solidFill>
                  <a:srgbClr val="002060"/>
                </a:solidFill>
                <a:latin typeface="Times New Roman" panose="02020603050405020304" pitchFamily="18" charset="0"/>
                <a:cs typeface="Times New Roman" panose="02020603050405020304" pitchFamily="18" charset="0"/>
              </a:rPr>
              <a:t>Problem &amp; Analytical Objective</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82226"/>
            <a:ext cx="8046720" cy="3785652"/>
          </a:xfrm>
          <a:prstGeom prst="rect">
            <a:avLst/>
          </a:prstGeom>
          <a:noFill/>
        </p:spPr>
        <p:txBody>
          <a:bodyPr wrap="square">
            <a:spAutoFit/>
          </a:bodyPr>
          <a:lstStyle/>
          <a:p>
            <a:r>
              <a:rPr sz="2000" b="1" dirty="0">
                <a:latin typeface="Times New Roman" panose="02020603050405020304" pitchFamily="18" charset="0"/>
                <a:cs typeface="Times New Roman" panose="02020603050405020304" pitchFamily="18" charset="0"/>
              </a:rPr>
              <a:t>How does ticket page engagement change in the days leading up to a game depending on the weather forecast?
</a:t>
            </a:r>
            <a:r>
              <a:rPr sz="2000" b="1" dirty="0">
                <a:solidFill>
                  <a:srgbClr val="002060"/>
                </a:solidFill>
                <a:latin typeface="Times New Roman" panose="02020603050405020304" pitchFamily="18" charset="0"/>
                <a:cs typeface="Times New Roman" panose="02020603050405020304" pitchFamily="18" charset="0"/>
              </a:rPr>
              <a:t>Challenges:</a:t>
            </a:r>
            <a:r>
              <a:rPr sz="2000" b="1" dirty="0">
                <a:latin typeface="Times New Roman" panose="02020603050405020304" pitchFamily="18" charset="0"/>
                <a:cs typeface="Times New Roman" panose="02020603050405020304" pitchFamily="18" charset="0"/>
              </a:rPr>
              <a:t>
• Ticket engagement activity, game schedule, and weather forecasts exist in separate systems
• These datasets evolve over time and are not aligned for analysis
</a:t>
            </a:r>
            <a:r>
              <a:rPr sz="2000" b="1" dirty="0">
                <a:solidFill>
                  <a:srgbClr val="002060"/>
                </a:solidFill>
                <a:latin typeface="Times New Roman" panose="02020603050405020304" pitchFamily="18" charset="0"/>
                <a:cs typeface="Times New Roman" panose="02020603050405020304" pitchFamily="18" charset="0"/>
              </a:rPr>
              <a:t>Objective:</a:t>
            </a:r>
            <a:r>
              <a:rPr sz="2000" b="1" dirty="0">
                <a:latin typeface="Times New Roman" panose="02020603050405020304" pitchFamily="18" charset="0"/>
                <a:cs typeface="Times New Roman" panose="02020603050405020304" pitchFamily="18" charset="0"/>
              </a:rPr>
              <a:t>
Design a lightweight data pipeline that integrates these sources and produces an analyst‑ready dataset to explore how weather forecasts may influence ticket demand.</a:t>
            </a:r>
          </a:p>
        </p:txBody>
      </p:sp>
      <p:sp>
        <p:nvSpPr>
          <p:cNvPr id="12" name="Google Shape;357;p1">
            <a:extLst>
              <a:ext uri="{FF2B5EF4-FFF2-40B4-BE49-F238E27FC236}">
                <a16:creationId xmlns:a16="http://schemas.microsoft.com/office/drawing/2014/main" id="{E0687595-6923-6631-32CC-E3521FA48BDD}"/>
              </a:ext>
            </a:extLst>
          </p:cNvPr>
          <p:cNvSpPr txBox="1">
            <a:spLocks noGrp="1"/>
          </p:cNvSpPr>
          <p:nvPr>
            <p:ph type="ftr" idx="11"/>
          </p:nvPr>
        </p:nvSpPr>
        <p:spPr>
          <a:xfrm>
            <a:off x="347980" y="622984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7887" y="484118"/>
            <a:ext cx="7694671" cy="707886"/>
          </a:xfrm>
          <a:prstGeom prst="rect">
            <a:avLst/>
          </a:prstGeom>
          <a:noFill/>
        </p:spPr>
        <p:txBody>
          <a:bodyPr wrap="none">
            <a:spAutoFit/>
          </a:bodyPr>
          <a:lstStyle/>
          <a:p>
            <a:r>
              <a:rPr sz="4000" b="1" dirty="0">
                <a:solidFill>
                  <a:srgbClr val="002060"/>
                </a:solidFill>
                <a:latin typeface="Times New Roman" panose="02020603050405020304" pitchFamily="18" charset="0"/>
                <a:cs typeface="Times New Roman" panose="02020603050405020304" pitchFamily="18" charset="0"/>
              </a:rPr>
              <a:t>Approach &amp; Pipeline Architecture</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7887" y="1491813"/>
            <a:ext cx="8303718" cy="470898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 designed a modular data pipeline using Python, SQLite, and a weather forecast API to integrate ticket activity and weather data. The pipeline is organized into separate scripts for ingestion, API retrieval, transformation, and orchestration. The final dataset is stored in SQLite and structured so analysts can query how engagement changes as game day approaches.</a:t>
            </a:r>
          </a:p>
          <a:p>
            <a:br>
              <a:rPr lang="en-US" sz="2000" b="1" dirty="0">
                <a:latin typeface="Times New Roman" panose="02020603050405020304" pitchFamily="18" charset="0"/>
                <a:cs typeface="Times New Roman" panose="02020603050405020304" pitchFamily="18" charset="0"/>
              </a:rPr>
            </a:br>
            <a:r>
              <a:rPr lang="en-US" sz="2000" b="1" dirty="0">
                <a:solidFill>
                  <a:srgbClr val="002060"/>
                </a:solidFill>
                <a:latin typeface="Times New Roman" panose="02020603050405020304" pitchFamily="18" charset="0"/>
                <a:cs typeface="Times New Roman" panose="02020603050405020304" pitchFamily="18" charset="0"/>
              </a:rPr>
              <a:t>Architecture:</a:t>
            </a:r>
          </a:p>
          <a:p>
            <a:r>
              <a:rPr lang="en-US" sz="2000" b="1" dirty="0">
                <a:latin typeface="Times New Roman" panose="02020603050405020304" pitchFamily="18" charset="0"/>
                <a:cs typeface="Times New Roman" panose="02020603050405020304" pitchFamily="18" charset="0"/>
              </a:rPr>
              <a:t>1. </a:t>
            </a:r>
            <a:r>
              <a:rPr sz="2000" b="1" dirty="0">
                <a:latin typeface="Times New Roman" panose="02020603050405020304" pitchFamily="18" charset="0"/>
                <a:cs typeface="Times New Roman" panose="02020603050405020304" pitchFamily="18" charset="0"/>
              </a:rPr>
              <a:t>Data Ingestion – Ticket activity dataset prepared for analysi</a:t>
            </a:r>
            <a:r>
              <a:rPr lang="en-US" sz="2000" b="1" dirty="0">
                <a:latin typeface="Times New Roman" panose="02020603050405020304" pitchFamily="18" charset="0"/>
                <a:cs typeface="Times New Roman" panose="02020603050405020304" pitchFamily="18" charset="0"/>
              </a:rPr>
              <a:t>s
</a:t>
            </a:r>
            <a:r>
              <a:rP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 </a:t>
            </a:r>
            <a:r>
              <a:rPr sz="2000" b="1" dirty="0">
                <a:latin typeface="Times New Roman" panose="02020603050405020304" pitchFamily="18" charset="0"/>
                <a:cs typeface="Times New Roman" panose="02020603050405020304" pitchFamily="18" charset="0"/>
              </a:rPr>
              <a:t>Data Integration – Weather forecasts retrieved via API</a:t>
            </a:r>
            <a:r>
              <a:rPr lang="en-US" sz="2000" b="1"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3. </a:t>
            </a:r>
            <a:r>
              <a:rPr sz="2000" b="1" dirty="0">
                <a:latin typeface="Times New Roman" panose="02020603050405020304" pitchFamily="18" charset="0"/>
                <a:cs typeface="Times New Roman" panose="02020603050405020304" pitchFamily="18" charset="0"/>
              </a:rPr>
              <a:t>Data Transformation – Data cleaned and joined into a dataset</a:t>
            </a:r>
            <a:r>
              <a:rPr lang="en-US" sz="2000" b="1" dirty="0">
                <a:latin typeface="Times New Roman" panose="02020603050405020304" pitchFamily="18" charset="0"/>
                <a:cs typeface="Times New Roman" panose="02020603050405020304" pitchFamily="18" charset="0"/>
              </a:rPr>
              <a:t>
</a:t>
            </a:r>
            <a:r>
              <a:rPr sz="2000" b="1" dirty="0">
                <a:solidFill>
                  <a:srgbClr val="002060"/>
                </a:solidFill>
                <a:latin typeface="Times New Roman" panose="02020603050405020304" pitchFamily="18" charset="0"/>
                <a:cs typeface="Times New Roman" panose="02020603050405020304" pitchFamily="18" charset="0"/>
              </a:rPr>
              <a:t>Technology Stack:</a:t>
            </a:r>
            <a:r>
              <a:rPr sz="2000" b="1" dirty="0">
                <a:latin typeface="Times New Roman" panose="02020603050405020304" pitchFamily="18" charset="0"/>
                <a:cs typeface="Times New Roman" panose="02020603050405020304" pitchFamily="18" charset="0"/>
              </a:rPr>
              <a:t>
Python • Pandas • SQLite • Open‑</a:t>
            </a:r>
            <a:r>
              <a:rPr sz="2000" b="1" dirty="0" err="1">
                <a:latin typeface="Times New Roman" panose="02020603050405020304" pitchFamily="18" charset="0"/>
                <a:cs typeface="Times New Roman" panose="02020603050405020304" pitchFamily="18" charset="0"/>
              </a:rPr>
              <a:t>Meteo</a:t>
            </a:r>
            <a:r>
              <a:rPr sz="2000" b="1" dirty="0">
                <a:latin typeface="Times New Roman" panose="02020603050405020304" pitchFamily="18" charset="0"/>
                <a:cs typeface="Times New Roman" panose="02020603050405020304" pitchFamily="18" charset="0"/>
              </a:rPr>
              <a:t> API • GitHub • VS Code</a:t>
            </a:r>
          </a:p>
        </p:txBody>
      </p:sp>
      <p:sp>
        <p:nvSpPr>
          <p:cNvPr id="6" name="Google Shape;357;p1">
            <a:extLst>
              <a:ext uri="{FF2B5EF4-FFF2-40B4-BE49-F238E27FC236}">
                <a16:creationId xmlns:a16="http://schemas.microsoft.com/office/drawing/2014/main" id="{4A9789EC-F12C-45F6-E508-DDD395514FC9}"/>
              </a:ext>
            </a:extLst>
          </p:cNvPr>
          <p:cNvSpPr txBox="1">
            <a:spLocks noGrp="1"/>
          </p:cNvSpPr>
          <p:nvPr>
            <p:ph type="ftr" idx="11"/>
          </p:nvPr>
        </p:nvSpPr>
        <p:spPr>
          <a:xfrm>
            <a:off x="347980" y="648669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7340" y="548640"/>
            <a:ext cx="6418264" cy="707886"/>
          </a:xfrm>
          <a:prstGeom prst="rect">
            <a:avLst/>
          </a:prstGeom>
          <a:noFill/>
        </p:spPr>
        <p:txBody>
          <a:bodyPr wrap="square">
            <a:spAutoFit/>
          </a:bodyPr>
          <a:lstStyle/>
          <a:p>
            <a:r>
              <a:rPr sz="4000" b="1" dirty="0">
                <a:solidFill>
                  <a:srgbClr val="002060"/>
                </a:solidFill>
                <a:latin typeface="Times New Roman" panose="02020603050405020304" pitchFamily="18" charset="0"/>
                <a:cs typeface="Times New Roman" panose="02020603050405020304" pitchFamily="18" charset="0"/>
              </a:rPr>
              <a:t>Data Modeling Strategy</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0988"/>
            <a:ext cx="8155940" cy="498598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 key modeling decision was defining the grain of the final dataset.</a:t>
            </a:r>
          </a:p>
          <a:p>
            <a:r>
              <a:rPr lang="en-US" sz="2000" b="1" dirty="0">
                <a:latin typeface="Times New Roman" panose="02020603050405020304" pitchFamily="18" charset="0"/>
                <a:cs typeface="Times New Roman" panose="02020603050405020304" pitchFamily="18" charset="0"/>
              </a:rPr>
              <a:t>The analytical table was modeled at: </a:t>
            </a:r>
            <a:r>
              <a:rPr lang="en-US" sz="2000" b="1" dirty="0" err="1">
                <a:latin typeface="Times New Roman" panose="02020603050405020304" pitchFamily="18" charset="0"/>
                <a:cs typeface="Times New Roman" panose="02020603050405020304" pitchFamily="18" charset="0"/>
              </a:rPr>
              <a:t>game_date</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snapshot_date</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Each row represents:</a:t>
            </a:r>
          </a:p>
          <a:p>
            <a:r>
              <a:rPr lang="en-US" sz="2000" b="1" dirty="0">
                <a:latin typeface="Times New Roman" panose="02020603050405020304" pitchFamily="18" charset="0"/>
                <a:cs typeface="Times New Roman" panose="02020603050405020304" pitchFamily="18" charset="0"/>
              </a:rPr>
              <a:t>• a specific game</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observed on a specific day before that game</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with associated engagement metrics and weather forecasts.</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This design preserves how both fan engagement and forecasts evolve over time rather than collapsing observations into a single record per game.</a:t>
            </a:r>
          </a:p>
          <a:p>
            <a:endParaRPr lang="en-US" sz="2000" b="1" dirty="0">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Key derived feature</a:t>
            </a:r>
          </a:p>
          <a:p>
            <a:r>
              <a:rPr lang="en-US" b="1" dirty="0" err="1">
                <a:latin typeface="Times New Roman" panose="02020603050405020304" pitchFamily="18" charset="0"/>
                <a:cs typeface="Times New Roman" panose="02020603050405020304" pitchFamily="18" charset="0"/>
              </a:rPr>
              <a:t>days_before_game</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game_date</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snapshot_date</a:t>
            </a:r>
            <a:endParaRPr lang="en-US"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This enables analysts to evaluate engagement patterns across the timeline leading up to a game.</a:t>
            </a:r>
          </a:p>
          <a:p>
            <a:endParaRPr sz="2000" b="1" dirty="0"/>
          </a:p>
        </p:txBody>
      </p:sp>
      <p:sp>
        <p:nvSpPr>
          <p:cNvPr id="6" name="Google Shape;357;p1">
            <a:extLst>
              <a:ext uri="{FF2B5EF4-FFF2-40B4-BE49-F238E27FC236}">
                <a16:creationId xmlns:a16="http://schemas.microsoft.com/office/drawing/2014/main" id="{EBC92844-C8C2-270C-3E8C-D75136813CBA}"/>
              </a:ext>
            </a:extLst>
          </p:cNvPr>
          <p:cNvSpPr txBox="1">
            <a:spLocks noGrp="1"/>
          </p:cNvSpPr>
          <p:nvPr>
            <p:ph type="ftr" idx="11"/>
          </p:nvPr>
        </p:nvSpPr>
        <p:spPr>
          <a:xfrm>
            <a:off x="347980" y="643532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79" y="548640"/>
            <a:ext cx="6736765" cy="707886"/>
          </a:xfrm>
          <a:prstGeom prst="rect">
            <a:avLst/>
          </a:prstGeom>
          <a:noFill/>
        </p:spPr>
        <p:txBody>
          <a:bodyPr wrap="square">
            <a:spAutoFit/>
          </a:bodyPr>
          <a:lstStyle/>
          <a:p>
            <a:r>
              <a:rPr sz="4000" b="1" dirty="0">
                <a:solidFill>
                  <a:srgbClr val="002060"/>
                </a:solidFill>
                <a:latin typeface="Times New Roman" panose="02020603050405020304" pitchFamily="18" charset="0"/>
                <a:cs typeface="Times New Roman" panose="02020603050405020304" pitchFamily="18" charset="0"/>
              </a:rPr>
              <a:t>Example Analytical Insight</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45920"/>
            <a:ext cx="8051857" cy="440120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The final dataset enables simple queries to analyze demand trends.</a:t>
            </a:r>
          </a:p>
          <a:p>
            <a:endParaRPr lang="en-US" sz="2000" b="1" dirty="0">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Example analysis:</a:t>
            </a:r>
          </a:p>
          <a:p>
            <a:r>
              <a:rPr lang="en-US" sz="2000" b="1" dirty="0">
                <a:latin typeface="Times New Roman" panose="02020603050405020304" pitchFamily="18" charset="0"/>
                <a:cs typeface="Times New Roman" panose="02020603050405020304" pitchFamily="18" charset="0"/>
              </a:rPr>
              <a:t>Average ticket page clicks grouped by days before the game.</a:t>
            </a:r>
          </a:p>
          <a:p>
            <a:endParaRPr lang="en-US" sz="2000" b="1" dirty="0">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Key observation:</a:t>
            </a:r>
          </a:p>
          <a:p>
            <a:r>
              <a:rPr lang="en-US" sz="2000" b="1" dirty="0">
                <a:latin typeface="Times New Roman" panose="02020603050405020304" pitchFamily="18" charset="0"/>
                <a:cs typeface="Times New Roman" panose="02020603050405020304" pitchFamily="18" charset="0"/>
              </a:rPr>
              <a:t>Fan engagement increases significantly as game day approaches.</a:t>
            </a:r>
          </a:p>
          <a:p>
            <a:endParaRPr lang="en-US" sz="2000" b="1" dirty="0">
              <a:solidFill>
                <a:srgbClr val="002060"/>
              </a:solidFill>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This pattern suggests that:</a:t>
            </a:r>
          </a:p>
          <a:p>
            <a:r>
              <a:rPr lang="en-US" sz="2000" b="1" dirty="0">
                <a:latin typeface="Times New Roman" panose="02020603050405020304" pitchFamily="18" charset="0"/>
                <a:cs typeface="Times New Roman" panose="02020603050405020304" pitchFamily="18" charset="0"/>
              </a:rPr>
              <a:t>• ticket interest accelerates closer to the event</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engagement trends may be influenced by factors such as weather forecasts, marketing activity, or opponent strength.</a:t>
            </a:r>
          </a:p>
          <a:p>
            <a:r>
              <a:rPr lang="en-US" sz="2000" b="1" dirty="0">
                <a:latin typeface="Times New Roman" panose="02020603050405020304" pitchFamily="18" charset="0"/>
                <a:cs typeface="Times New Roman" panose="02020603050405020304" pitchFamily="18" charset="0"/>
              </a:rPr>
              <a:t>The structured dataset allows analysts to easily explore these relationships.</a:t>
            </a:r>
          </a:p>
        </p:txBody>
      </p:sp>
      <p:sp>
        <p:nvSpPr>
          <p:cNvPr id="6" name="Google Shape;357;p1">
            <a:extLst>
              <a:ext uri="{FF2B5EF4-FFF2-40B4-BE49-F238E27FC236}">
                <a16:creationId xmlns:a16="http://schemas.microsoft.com/office/drawing/2014/main" id="{4A23E5AE-5E0F-E6F6-AFD0-8ECAD0425458}"/>
              </a:ext>
            </a:extLst>
          </p:cNvPr>
          <p:cNvSpPr txBox="1">
            <a:spLocks noGrp="1"/>
          </p:cNvSpPr>
          <p:nvPr>
            <p:ph type="ftr" idx="11"/>
          </p:nvPr>
        </p:nvSpPr>
        <p:spPr>
          <a:xfrm>
            <a:off x="347980" y="622984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7888" y="548640"/>
            <a:ext cx="8165697" cy="646331"/>
          </a:xfrm>
          <a:prstGeom prst="rect">
            <a:avLst/>
          </a:prstGeom>
          <a:noFill/>
        </p:spPr>
        <p:txBody>
          <a:bodyPr wrap="none">
            <a:spAutoFit/>
          </a:bodyPr>
          <a:lstStyle/>
          <a:p>
            <a:r>
              <a:rPr sz="3600" b="1" dirty="0">
                <a:solidFill>
                  <a:srgbClr val="002060"/>
                </a:solidFill>
                <a:latin typeface="Times New Roman" panose="02020603050405020304" pitchFamily="18" charset="0"/>
                <a:cs typeface="Times New Roman" panose="02020603050405020304" pitchFamily="18" charset="0"/>
              </a:rPr>
              <a:t>Scalability &amp; Production Considerations</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1" y="1645920"/>
            <a:ext cx="7734490" cy="3477875"/>
          </a:xfrm>
          <a:prstGeom prst="rect">
            <a:avLst/>
          </a:prstGeom>
          <a:noFill/>
        </p:spPr>
        <p:txBody>
          <a:bodyPr wrap="square">
            <a:spAutoFit/>
          </a:bodyPr>
          <a:lstStyle/>
          <a:p>
            <a:r>
              <a:rPr sz="2000" b="1" dirty="0">
                <a:solidFill>
                  <a:srgbClr val="002060"/>
                </a:solidFill>
                <a:latin typeface="Times New Roman" panose="02020603050405020304" pitchFamily="18" charset="0"/>
                <a:cs typeface="Times New Roman" panose="02020603050405020304" pitchFamily="18" charset="0"/>
              </a:rPr>
              <a:t>Potential production improvements:</a:t>
            </a:r>
            <a:r>
              <a:rPr sz="2000" b="1" dirty="0">
                <a:solidFill>
                  <a:schemeClr val="bg1"/>
                </a:solidFill>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
• Move storage from SQLite to a cloud warehouse (</a:t>
            </a:r>
            <a:r>
              <a:rPr sz="2000" b="1" dirty="0" err="1">
                <a:latin typeface="Times New Roman" panose="02020603050405020304" pitchFamily="18" charset="0"/>
                <a:cs typeface="Times New Roman" panose="02020603050405020304" pitchFamily="18" charset="0"/>
              </a:rPr>
              <a:t>BigQuery</a:t>
            </a:r>
            <a:r>
              <a:rPr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sz="2000" b="1" dirty="0">
                <a:latin typeface="Times New Roman" panose="02020603050405020304" pitchFamily="18" charset="0"/>
                <a:cs typeface="Times New Roman" panose="02020603050405020304" pitchFamily="18" charset="0"/>
              </a:rPr>
              <a:t>
• Schedule automated runs using Airflow</a:t>
            </a:r>
            <a:endParaRPr lang="en-US" sz="2000" b="1" dirty="0">
              <a:latin typeface="Times New Roman" panose="02020603050405020304" pitchFamily="18" charset="0"/>
              <a:cs typeface="Times New Roman" panose="02020603050405020304" pitchFamily="18" charset="0"/>
            </a:endParaRPr>
          </a:p>
          <a:p>
            <a:r>
              <a:rPr sz="2000" b="1" dirty="0">
                <a:latin typeface="Times New Roman" panose="02020603050405020304" pitchFamily="18" charset="0"/>
                <a:cs typeface="Times New Roman" panose="02020603050405020304" pitchFamily="18" charset="0"/>
              </a:rPr>
              <a:t>
• Implement automated data quality monitoring</a:t>
            </a:r>
            <a:r>
              <a:rPr lang="en-US" sz="2000" b="1" dirty="0">
                <a:latin typeface="Times New Roman" panose="02020603050405020304" pitchFamily="18" charset="0"/>
                <a:cs typeface="Times New Roman" panose="02020603050405020304" pitchFamily="18" charset="0"/>
              </a:rPr>
              <a:t>, i.e. validation checks, missing data checks.</a:t>
            </a:r>
          </a:p>
          <a:p>
            <a:r>
              <a:rPr sz="2000" b="1" dirty="0">
                <a:latin typeface="Times New Roman" panose="02020603050405020304" pitchFamily="18" charset="0"/>
                <a:cs typeface="Times New Roman" panose="02020603050405020304" pitchFamily="18" charset="0"/>
              </a:rPr>
              <a:t>
• Integrate additional signals such as opponent strength or marketing campaigns</a:t>
            </a:r>
          </a:p>
        </p:txBody>
      </p:sp>
      <p:sp>
        <p:nvSpPr>
          <p:cNvPr id="6" name="Google Shape;357;p1">
            <a:extLst>
              <a:ext uri="{FF2B5EF4-FFF2-40B4-BE49-F238E27FC236}">
                <a16:creationId xmlns:a16="http://schemas.microsoft.com/office/drawing/2014/main" id="{69606394-15C6-C492-C38C-4476C0CEB195}"/>
              </a:ext>
            </a:extLst>
          </p:cNvPr>
          <p:cNvSpPr txBox="1">
            <a:spLocks noGrp="1"/>
          </p:cNvSpPr>
          <p:nvPr>
            <p:ph type="ftr" idx="11"/>
          </p:nvPr>
        </p:nvSpPr>
        <p:spPr>
          <a:xfrm>
            <a:off x="347980" y="622984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48640"/>
            <a:ext cx="8416663" cy="584775"/>
          </a:xfrm>
          <a:prstGeom prst="rect">
            <a:avLst/>
          </a:prstGeom>
          <a:noFill/>
        </p:spPr>
        <p:txBody>
          <a:bodyPr wrap="none">
            <a:spAutoFit/>
          </a:bodyPr>
          <a:lstStyle/>
          <a:p>
            <a:r>
              <a:rPr sz="3200" b="1" dirty="0">
                <a:solidFill>
                  <a:srgbClr val="002060"/>
                </a:solidFill>
                <a:latin typeface="Times New Roman" panose="02020603050405020304" pitchFamily="18" charset="0"/>
                <a:cs typeface="Times New Roman" panose="02020603050405020304" pitchFamily="18" charset="0"/>
              </a:rPr>
              <a:t>Future Extensions: Demand &amp; Pricing Insights</a:t>
            </a:r>
          </a:p>
        </p:txBody>
      </p:sp>
      <p:sp>
        <p:nvSpPr>
          <p:cNvPr id="4" name="Rectangle 3"/>
          <p:cNvSpPr/>
          <p:nvPr/>
        </p:nvSpPr>
        <p:spPr>
          <a:xfrm>
            <a:off x="640080" y="1280160"/>
            <a:ext cx="2743200" cy="7315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45920"/>
            <a:ext cx="7892930" cy="2554545"/>
          </a:xfrm>
          <a:prstGeom prst="rect">
            <a:avLst/>
          </a:prstGeom>
          <a:noFill/>
        </p:spPr>
        <p:txBody>
          <a:bodyPr wrap="square">
            <a:spAutoFit/>
          </a:bodyPr>
          <a:lstStyle/>
          <a:p>
            <a:r>
              <a:rPr sz="2000" b="1" dirty="0">
                <a:latin typeface="Times New Roman" panose="02020603050405020304" pitchFamily="18" charset="0"/>
                <a:cs typeface="Times New Roman" panose="02020603050405020304" pitchFamily="18" charset="0"/>
              </a:rPr>
              <a:t>• Store historical weather forecast snapshots to track forecast changes</a:t>
            </a:r>
            <a:endParaRPr lang="en-US" sz="2000" b="1" dirty="0">
              <a:latin typeface="Times New Roman" panose="02020603050405020304" pitchFamily="18" charset="0"/>
              <a:cs typeface="Times New Roman" panose="02020603050405020304" pitchFamily="18" charset="0"/>
            </a:endParaRPr>
          </a:p>
          <a:p>
            <a:r>
              <a:rPr sz="2000" b="1" dirty="0">
                <a:latin typeface="Times New Roman" panose="02020603050405020304" pitchFamily="18" charset="0"/>
                <a:cs typeface="Times New Roman" panose="02020603050405020304" pitchFamily="18" charset="0"/>
              </a:rPr>
              <a:t>
• Build demand forecasting models using engagement + weather signals</a:t>
            </a:r>
            <a:endParaRPr lang="en-US" sz="2000" b="1" dirty="0">
              <a:latin typeface="Times New Roman" panose="02020603050405020304" pitchFamily="18" charset="0"/>
              <a:cs typeface="Times New Roman" panose="02020603050405020304" pitchFamily="18" charset="0"/>
            </a:endParaRPr>
          </a:p>
          <a:p>
            <a:r>
              <a:rPr sz="2000" b="1" dirty="0">
                <a:latin typeface="Times New Roman" panose="02020603050405020304" pitchFamily="18" charset="0"/>
                <a:cs typeface="Times New Roman" panose="02020603050405020304" pitchFamily="18" charset="0"/>
              </a:rPr>
              <a:t>
• Support dynamic pricing strategies based on predicted demand
These extensions move the pipeline toward revenue optimization and strategic decision support.</a:t>
            </a:r>
          </a:p>
        </p:txBody>
      </p:sp>
      <p:sp>
        <p:nvSpPr>
          <p:cNvPr id="6" name="Google Shape;357;p1">
            <a:extLst>
              <a:ext uri="{FF2B5EF4-FFF2-40B4-BE49-F238E27FC236}">
                <a16:creationId xmlns:a16="http://schemas.microsoft.com/office/drawing/2014/main" id="{0E534A8E-4DFD-4968-CFB4-95B030EAD6F6}"/>
              </a:ext>
            </a:extLst>
          </p:cNvPr>
          <p:cNvSpPr txBox="1">
            <a:spLocks noGrp="1"/>
          </p:cNvSpPr>
          <p:nvPr>
            <p:ph type="ftr" idx="11"/>
          </p:nvPr>
        </p:nvSpPr>
        <p:spPr>
          <a:xfrm>
            <a:off x="347980" y="6229843"/>
            <a:ext cx="844804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100" dirty="0">
                <a:solidFill>
                  <a:srgbClr val="002060"/>
                </a:solidFill>
              </a:rPr>
              <a:t>Interview Presentation – Database Administrator ◦ 17 March 2026 ◦ Ashley McKinney</a:t>
            </a:r>
            <a:endParaRPr sz="1100" dirty="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4921A-7AE9-3E02-9467-6B7ABA1E47A0}"/>
              </a:ext>
            </a:extLst>
          </p:cNvPr>
          <p:cNvSpPr>
            <a:spLocks noGrp="1"/>
          </p:cNvSpPr>
          <p:nvPr>
            <p:ph type="ctr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Thank You!</a:t>
            </a:r>
          </a:p>
        </p:txBody>
      </p:sp>
      <p:sp>
        <p:nvSpPr>
          <p:cNvPr id="3" name="Subtitle 2">
            <a:extLst>
              <a:ext uri="{FF2B5EF4-FFF2-40B4-BE49-F238E27FC236}">
                <a16:creationId xmlns:a16="http://schemas.microsoft.com/office/drawing/2014/main" id="{DCCB14C6-732E-857E-EAC6-68E4206AB51F}"/>
              </a:ext>
            </a:extLst>
          </p:cNvPr>
          <p:cNvSpPr>
            <a:spLocks noGrp="1"/>
          </p:cNvSpPr>
          <p:nvPr>
            <p:ph type="subTitle" idx="1"/>
          </p:nvPr>
        </p:nvSpPr>
        <p:spPr/>
        <p:txBody>
          <a:bodyPr>
            <a:normAutofit/>
          </a:bodyPr>
          <a:lstStyle/>
          <a:p>
            <a:r>
              <a:rPr lang="en-US" sz="1800" b="1" dirty="0">
                <a:solidFill>
                  <a:srgbClr val="002060"/>
                </a:solidFill>
                <a:latin typeface="Times New Roman" panose="02020603050405020304" pitchFamily="18" charset="0"/>
                <a:cs typeface="Times New Roman" panose="02020603050405020304" pitchFamily="18" charset="0"/>
              </a:rPr>
              <a:t>Ashley McKinney</a:t>
            </a:r>
          </a:p>
          <a:p>
            <a:r>
              <a:rPr lang="en-US" sz="1800" b="1" dirty="0">
                <a:solidFill>
                  <a:srgbClr val="00206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Email: ashleyjmck22@gmail.com</a:t>
            </a:r>
            <a:endParaRPr lang="en-US" sz="1800" b="1" dirty="0">
              <a:solidFill>
                <a:srgbClr val="002060"/>
              </a:solidFill>
              <a:latin typeface="Times New Roman" panose="02020603050405020304" pitchFamily="18" charset="0"/>
              <a:cs typeface="Times New Roman" panose="02020603050405020304" pitchFamily="18" charset="0"/>
            </a:endParaRPr>
          </a:p>
          <a:p>
            <a:r>
              <a:rPr lang="en-US" sz="1800" b="1" dirty="0">
                <a:solidFill>
                  <a:srgbClr val="002060"/>
                </a:solidFill>
                <a:latin typeface="Times New Roman" panose="02020603050405020304" pitchFamily="18" charset="0"/>
                <a:cs typeface="Times New Roman" panose="02020603050405020304" pitchFamily="18" charset="0"/>
              </a:rPr>
              <a:t>Cell: 314-218-5794</a:t>
            </a:r>
          </a:p>
          <a:p>
            <a:r>
              <a:rPr lang="en-US" sz="1800" b="1" dirty="0">
                <a:solidFill>
                  <a:srgbClr val="002060"/>
                </a:solidFill>
                <a:latin typeface="Times New Roman" panose="02020603050405020304" pitchFamily="18" charset="0"/>
                <a:cs typeface="Times New Roman" panose="02020603050405020304" pitchFamily="18" charset="0"/>
              </a:rPr>
              <a:t>GitHub: </a:t>
            </a:r>
            <a:r>
              <a:rPr lang="en-US" sz="1700" b="1" dirty="0">
                <a:solidFill>
                  <a:srgbClr val="002060"/>
                </a:solidFill>
                <a:latin typeface="Times New Roman" panose="02020603050405020304" pitchFamily="18" charset="0"/>
                <a:cs typeface="Times New Roman" panose="02020603050405020304" pitchFamily="18" charset="0"/>
              </a:rPr>
              <a:t>ashleyjmck22-hash/cardinals-ticket-weather-pipeline</a:t>
            </a:r>
            <a:endParaRPr lang="en-US"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1036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662</Words>
  <Application>Microsoft Office PowerPoint</Application>
  <PresentationFormat>On-screen Show (4:3)</PresentationFormat>
  <Paragraphs>60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Times New Roman</vt:lpstr>
      <vt:lpstr>Office Theme</vt:lpstr>
      <vt:lpstr>Pipeline &amp; Analytics</vt:lpstr>
      <vt:lpstr>Agenda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Ashley McKinney</dc:creator>
  <cp:keywords/>
  <dc:description>generated using python-pptx</dc:description>
  <cp:lastModifiedBy>Ashley McKinney</cp:lastModifiedBy>
  <cp:revision>3</cp:revision>
  <dcterms:created xsi:type="dcterms:W3CDTF">2013-01-27T09:14:16Z</dcterms:created>
  <dcterms:modified xsi:type="dcterms:W3CDTF">2026-03-16T05:55:03Z</dcterms:modified>
  <cp:category/>
</cp:coreProperties>
</file>